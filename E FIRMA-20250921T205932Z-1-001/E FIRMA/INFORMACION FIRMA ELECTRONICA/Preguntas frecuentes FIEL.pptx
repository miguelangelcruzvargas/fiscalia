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95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103" d="100"/>
          <a:sy n="103" d="100"/>
        </p:scale>
        <p:origin x="-4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 smtClean="0">
                <a:solidFill>
                  <a:srgbClr val="006666"/>
                </a:solidFill>
              </a:rPr>
              <a:t>Preguntas frecuentes sobre Firma Electrónica</a:t>
            </a:r>
            <a:endParaRPr lang="es-MX" dirty="0">
              <a:solidFill>
                <a:srgbClr val="006666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886003"/>
          </a:xfrm>
        </p:spPr>
        <p:txBody>
          <a:bodyPr>
            <a:normAutofit/>
          </a:bodyPr>
          <a:lstStyle/>
          <a:p>
            <a:pPr marL="457200" lvl="0" indent="-457200" algn="just">
              <a:buAutoNum type="arabicPeriod"/>
            </a:pPr>
            <a:r>
              <a:rPr lang="es-MX" sz="2200" dirty="0" smtClean="0">
                <a:solidFill>
                  <a:schemeClr val="tx1"/>
                </a:solidFill>
                <a:ea typeface="+mj-ea"/>
                <a:cs typeface="+mj-cs"/>
              </a:rPr>
              <a:t>¿</a:t>
            </a:r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Cuál es la diferencia entre Contraseña  y Firma Electrónica</a:t>
            </a:r>
            <a:r>
              <a:rPr lang="es-MX" sz="22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lvl="0" algn="just"/>
            <a:endParaRPr lang="es-MX" sz="2200" dirty="0" smtClean="0">
              <a:solidFill>
                <a:schemeClr val="tx1"/>
              </a:solidFill>
              <a:ea typeface="+mj-ea"/>
              <a:cs typeface="+mj-cs"/>
            </a:endParaRPr>
          </a:p>
          <a:p>
            <a:pPr lvl="0" algn="just"/>
            <a:r>
              <a:rPr lang="es-MX" sz="2200" dirty="0"/>
              <a:t>Los dos son mecanismos de autenticación seguros y produce los mismos efectos jurídicos que la firma autógrafa. </a:t>
            </a:r>
            <a:r>
              <a:rPr lang="es-MX" sz="2200" dirty="0"/>
              <a:t>Sin embargo </a:t>
            </a:r>
            <a:r>
              <a:rPr lang="es-MX" sz="2200" dirty="0"/>
              <a:t>l</a:t>
            </a:r>
            <a:r>
              <a:rPr lang="es-ES" sz="2200" dirty="0" smtClean="0"/>
              <a:t>a firma electrónica </a:t>
            </a:r>
            <a:r>
              <a:rPr lang="es-ES" sz="2200" dirty="0"/>
              <a:t>es </a:t>
            </a:r>
            <a:r>
              <a:rPr lang="es-ES" sz="2200" dirty="0"/>
              <a:t>un mecanismo de acceso más completo, toda vez que para su obtención, es necesario  </a:t>
            </a:r>
            <a:r>
              <a:rPr lang="es-ES" sz="2200" dirty="0"/>
              <a:t>recabar datos </a:t>
            </a:r>
            <a:r>
              <a:rPr lang="es-ES" sz="2200" dirty="0" smtClean="0"/>
              <a:t>biométricos, se </a:t>
            </a:r>
            <a:r>
              <a:rPr lang="es-ES" sz="2200" dirty="0"/>
              <a:t>conforma de una clave privada, un certificado y una contraseña de </a:t>
            </a:r>
            <a:r>
              <a:rPr lang="es-ES" sz="2200" dirty="0" smtClean="0"/>
              <a:t>acceso.</a:t>
            </a:r>
            <a:r>
              <a:rPr lang="es-ES" sz="2200" dirty="0" smtClean="0"/>
              <a:t/>
            </a:r>
            <a:br>
              <a:rPr lang="es-ES" sz="2200" dirty="0" smtClean="0"/>
            </a:br>
            <a:endParaRPr lang="es-ES" sz="2200" dirty="0" smtClean="0"/>
          </a:p>
          <a:p>
            <a:pPr algn="just"/>
            <a:r>
              <a:rPr lang="es-ES" sz="2200" dirty="0" smtClean="0"/>
              <a:t>La Contraseña </a:t>
            </a:r>
            <a:r>
              <a:rPr lang="es-ES" sz="2200" dirty="0"/>
              <a:t>es </a:t>
            </a:r>
            <a:r>
              <a:rPr lang="es-ES" sz="2200" dirty="0" smtClean="0"/>
              <a:t>un </a:t>
            </a:r>
            <a:r>
              <a:rPr lang="es-ES" sz="2200" dirty="0"/>
              <a:t>mecanismo de acceso conformado por el Registro Federal de Contribuyentes y su contraseña de </a:t>
            </a:r>
            <a:r>
              <a:rPr lang="es-ES" sz="2200" dirty="0" smtClean="0"/>
              <a:t>acceso determinada por el contribuyente.</a:t>
            </a:r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208982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5112568"/>
          </a:xfrm>
        </p:spPr>
        <p:txBody>
          <a:bodyPr>
            <a:noAutofit/>
          </a:bodyPr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2.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¿El trámite de Firma Electrónica tiene algún costo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algn="just"/>
            <a:endParaRPr lang="es-ES" sz="1000" dirty="0">
              <a:solidFill>
                <a:schemeClr val="tx1"/>
              </a:solidFill>
              <a:ea typeface="+mj-ea"/>
              <a:cs typeface="+mj-cs"/>
            </a:endParaRPr>
          </a:p>
          <a:p>
            <a:pPr algn="just"/>
            <a:r>
              <a:rPr lang="es-ES" sz="2200" dirty="0"/>
              <a:t>El trámite es </a:t>
            </a:r>
            <a:r>
              <a:rPr lang="es-ES" sz="2200" dirty="0"/>
              <a:t>totalmente gratuito</a:t>
            </a:r>
            <a:r>
              <a:rPr lang="es-ES" sz="2200" dirty="0" smtClean="0"/>
              <a:t>.</a:t>
            </a:r>
          </a:p>
          <a:p>
            <a:pPr algn="just"/>
            <a:endParaRPr lang="es-ES" sz="1000" dirty="0" smtClean="0"/>
          </a:p>
          <a:p>
            <a:pPr algn="just"/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3. ¿Puedo proporcionar mi </a:t>
            </a:r>
            <a:r>
              <a:rPr lang="es-ES" sz="2200" strike="sngStrike" dirty="0" smtClean="0">
                <a:solidFill>
                  <a:schemeClr val="tx1"/>
                </a:solidFill>
                <a:ea typeface="+mj-ea"/>
                <a:cs typeface="+mj-cs"/>
              </a:rPr>
              <a:t>f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irma </a:t>
            </a:r>
            <a:r>
              <a:rPr lang="es-ES" sz="2200" strike="sngStrike" dirty="0" smtClean="0">
                <a:solidFill>
                  <a:schemeClr val="tx1"/>
                </a:solidFill>
                <a:ea typeface="+mj-ea"/>
                <a:cs typeface="+mj-cs"/>
              </a:rPr>
              <a:t>e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lectrónica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, con mis contraseñas a mi Contador Público para que me realice mis trámites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algn="just"/>
            <a:endParaRPr lang="es-ES" sz="1000" dirty="0">
              <a:solidFill>
                <a:schemeClr val="tx1"/>
              </a:solidFill>
              <a:ea typeface="+mj-ea"/>
              <a:cs typeface="+mj-cs"/>
            </a:endParaRPr>
          </a:p>
          <a:p>
            <a:pPr algn="just"/>
            <a:r>
              <a:rPr lang="es-ES" sz="2200" dirty="0"/>
              <a:t>No, la </a:t>
            </a:r>
            <a:r>
              <a:rPr lang="es-ES" sz="2200" dirty="0"/>
              <a:t>f</a:t>
            </a:r>
            <a:r>
              <a:rPr lang="es-ES" sz="2200" dirty="0" smtClean="0"/>
              <a:t>irma </a:t>
            </a:r>
            <a:r>
              <a:rPr lang="es-ES" sz="2200" strike="sngStrike" dirty="0" smtClean="0"/>
              <a:t>e</a:t>
            </a:r>
            <a:r>
              <a:rPr lang="es-ES" sz="2200" dirty="0" smtClean="0"/>
              <a:t>lectrónica </a:t>
            </a:r>
            <a:r>
              <a:rPr lang="es-ES" sz="2200" dirty="0"/>
              <a:t>tiene la misma validez jurídica que su firma autógrafa, por lo cual todos los actos que se firmen con dicho certificado, serán imputables al titular </a:t>
            </a:r>
            <a:r>
              <a:rPr lang="es-ES" sz="2200" dirty="0"/>
              <a:t>de la misma. </a:t>
            </a:r>
            <a:r>
              <a:rPr lang="es-ES" sz="2200" dirty="0"/>
              <a:t>La </a:t>
            </a:r>
            <a:r>
              <a:rPr lang="es-ES" sz="2200" dirty="0" smtClean="0"/>
              <a:t>firma electrónica </a:t>
            </a:r>
            <a:r>
              <a:rPr lang="es-ES" sz="2200" dirty="0"/>
              <a:t>contenida en documentos electrónicos garantiza la autoría e integridad del documento y que dicha firma corresponde exclusivamente al firmante. </a:t>
            </a:r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14183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030019"/>
          </a:xfrm>
        </p:spPr>
        <p:txBody>
          <a:bodyPr>
            <a:normAutofit fontScale="77500" lnSpcReduction="20000"/>
          </a:bodyPr>
          <a:lstStyle/>
          <a:p>
            <a:pPr lvl="0" algn="just"/>
            <a:r>
              <a:rPr lang="es-MX" sz="2600" dirty="0">
                <a:solidFill>
                  <a:schemeClr val="tx1"/>
                </a:solidFill>
                <a:ea typeface="+mj-ea"/>
                <a:cs typeface="+mj-cs"/>
              </a:rPr>
              <a:t>4. ¿</a:t>
            </a:r>
            <a:r>
              <a:rPr lang="es-MX" sz="2600" dirty="0" smtClean="0">
                <a:solidFill>
                  <a:schemeClr val="tx1"/>
                </a:solidFill>
                <a:ea typeface="+mj-ea"/>
                <a:cs typeface="+mj-cs"/>
              </a:rPr>
              <a:t>Cuál es la vigencia de mi </a:t>
            </a:r>
            <a:r>
              <a:rPr lang="es-MX" sz="2600" dirty="0">
                <a:solidFill>
                  <a:schemeClr val="tx1"/>
                </a:solidFill>
                <a:ea typeface="+mj-ea"/>
                <a:cs typeface="+mj-cs"/>
              </a:rPr>
              <a:t>certificado de </a:t>
            </a:r>
            <a:r>
              <a:rPr lang="es-ES" sz="2600" dirty="0">
                <a:solidFill>
                  <a:schemeClr val="tx1"/>
                </a:solidFill>
                <a:ea typeface="+mj-ea"/>
                <a:cs typeface="+mj-cs"/>
              </a:rPr>
              <a:t>firma electrónica</a:t>
            </a:r>
            <a:r>
              <a:rPr lang="es-MX" sz="26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lvl="0" algn="just"/>
            <a:endParaRPr lang="es-MX" sz="2600" dirty="0">
              <a:solidFill>
                <a:schemeClr val="tx1"/>
              </a:solidFill>
              <a:ea typeface="+mj-ea"/>
              <a:cs typeface="+mj-cs"/>
            </a:endParaRPr>
          </a:p>
          <a:p>
            <a:pPr lvl="0" algn="just"/>
            <a:r>
              <a:rPr lang="es-ES" sz="2600" dirty="0"/>
              <a:t>El certificado de </a:t>
            </a:r>
            <a:r>
              <a:rPr lang="es-ES" sz="2600" dirty="0"/>
              <a:t>firma electrónica tanto para </a:t>
            </a:r>
            <a:r>
              <a:rPr lang="es-ES" sz="2600" dirty="0"/>
              <a:t>personas físicas y morales </a:t>
            </a:r>
            <a:r>
              <a:rPr lang="es-ES" sz="2600" dirty="0"/>
              <a:t>tiene </a:t>
            </a:r>
            <a:r>
              <a:rPr lang="es-ES" sz="2600" dirty="0"/>
              <a:t>una vigencia de 4 </a:t>
            </a:r>
            <a:r>
              <a:rPr lang="es-ES" sz="2600" dirty="0"/>
              <a:t>años.</a:t>
            </a:r>
          </a:p>
          <a:p>
            <a:pPr lvl="0" algn="just"/>
            <a:endParaRPr lang="es-ES" sz="2600" dirty="0" smtClean="0"/>
          </a:p>
          <a:p>
            <a:pPr algn="just"/>
            <a:r>
              <a:rPr lang="es-ES" sz="2600" dirty="0">
                <a:solidFill>
                  <a:schemeClr val="tx1"/>
                </a:solidFill>
                <a:ea typeface="+mj-ea"/>
                <a:cs typeface="+mj-cs"/>
              </a:rPr>
              <a:t>5. </a:t>
            </a:r>
            <a:r>
              <a:rPr lang="es-MX" sz="2600" dirty="0">
                <a:solidFill>
                  <a:schemeClr val="tx1"/>
                </a:solidFill>
                <a:ea typeface="+mj-ea"/>
                <a:cs typeface="+mj-cs"/>
              </a:rPr>
              <a:t>Requiero realizar el cambio de representante legal de la </a:t>
            </a:r>
            <a:r>
              <a:rPr lang="es-ES" sz="2600" dirty="0">
                <a:solidFill>
                  <a:schemeClr val="tx1"/>
                </a:solidFill>
                <a:ea typeface="+mj-ea"/>
                <a:cs typeface="+mj-cs"/>
              </a:rPr>
              <a:t>fir</a:t>
            </a:r>
            <a:r>
              <a:rPr lang="es-ES" sz="2800" dirty="0" smtClean="0">
                <a:solidFill>
                  <a:schemeClr val="tx1"/>
                </a:solidFill>
              </a:rPr>
              <a:t>ma</a:t>
            </a:r>
            <a:r>
              <a:rPr lang="es-ES" sz="2800" dirty="0" smtClean="0"/>
              <a:t> </a:t>
            </a:r>
            <a:r>
              <a:rPr lang="es-ES" sz="2600" dirty="0">
                <a:solidFill>
                  <a:schemeClr val="tx1"/>
                </a:solidFill>
                <a:ea typeface="+mj-ea"/>
                <a:cs typeface="+mj-cs"/>
              </a:rPr>
              <a:t>electróni</a:t>
            </a:r>
            <a:r>
              <a:rPr lang="es-ES" sz="2800" dirty="0" smtClean="0">
                <a:solidFill>
                  <a:schemeClr val="tx1"/>
                </a:solidFill>
              </a:rPr>
              <a:t>ca</a:t>
            </a:r>
            <a:r>
              <a:rPr lang="es-MX" sz="2600" dirty="0" smtClean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s-MX" sz="2600" dirty="0">
                <a:solidFill>
                  <a:schemeClr val="tx1"/>
                </a:solidFill>
                <a:ea typeface="+mj-ea"/>
                <a:cs typeface="+mj-cs"/>
              </a:rPr>
              <a:t>de una Persona Moral, ¿Cómo puedo realizarlo</a:t>
            </a:r>
            <a:r>
              <a:rPr lang="es-MX" sz="26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algn="just"/>
            <a:endParaRPr lang="es-MX" sz="2600" dirty="0">
              <a:solidFill>
                <a:schemeClr val="tx1"/>
              </a:solidFill>
              <a:ea typeface="+mj-ea"/>
              <a:cs typeface="+mj-cs"/>
            </a:endParaRPr>
          </a:p>
          <a:p>
            <a:pPr lvl="0" algn="just"/>
            <a:r>
              <a:rPr lang="es-MX" sz="2600" dirty="0"/>
              <a:t>Deberá </a:t>
            </a:r>
            <a:r>
              <a:rPr lang="es-MX" sz="2600" dirty="0" smtClean="0"/>
              <a:t>acudir a la oficina del SAT y presentar:</a:t>
            </a:r>
          </a:p>
          <a:p>
            <a:pPr lvl="0" algn="just"/>
            <a:endParaRPr lang="es-MX" sz="2600" dirty="0" smtClean="0"/>
          </a:p>
          <a:p>
            <a:pPr marL="457200" lvl="0" indent="-4572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600" dirty="0" smtClean="0"/>
              <a:t>Acta </a:t>
            </a:r>
            <a:r>
              <a:rPr lang="es-MX" sz="2600" dirty="0"/>
              <a:t>constitutiva y el poder general para actos de administración o domino,  donde se especifiquen los poderes </a:t>
            </a:r>
            <a:r>
              <a:rPr lang="es-MX" sz="2600" dirty="0" smtClean="0"/>
              <a:t>del nuevo </a:t>
            </a:r>
            <a:r>
              <a:rPr lang="es-MX" sz="2600" dirty="0"/>
              <a:t>Representante </a:t>
            </a:r>
            <a:r>
              <a:rPr lang="es-MX" sz="2600" dirty="0" smtClean="0"/>
              <a:t>Legal.</a:t>
            </a:r>
          </a:p>
          <a:p>
            <a:pPr marL="457200" lvl="0" indent="-4572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600" dirty="0" smtClean="0"/>
              <a:t>Identificación </a:t>
            </a:r>
            <a:r>
              <a:rPr lang="es-MX" sz="2600" dirty="0"/>
              <a:t>oficial </a:t>
            </a:r>
            <a:r>
              <a:rPr lang="es-MX" sz="2600" dirty="0" smtClean="0"/>
              <a:t>vigente. </a:t>
            </a:r>
          </a:p>
          <a:p>
            <a:pPr marL="457200" lvl="0" indent="-4572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600" dirty="0" smtClean="0"/>
              <a:t>Un </a:t>
            </a:r>
            <a:r>
              <a:rPr lang="es-MX" sz="2600" dirty="0"/>
              <a:t>dispositivo USB ó </a:t>
            </a:r>
            <a:r>
              <a:rPr lang="es-MX" sz="2600" dirty="0" smtClean="0"/>
              <a:t>CD.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310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6. </a:t>
            </a:r>
            <a:r>
              <a:rPr lang="es-MX" sz="2200" dirty="0" smtClean="0">
                <a:solidFill>
                  <a:schemeClr val="tx1"/>
                </a:solidFill>
                <a:ea typeface="+mj-ea"/>
                <a:cs typeface="+mj-cs"/>
              </a:rPr>
              <a:t>¿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El Acta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de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Nacimiento de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registro múltiple (gemelos)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es aceptada para realizar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el trámite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de </a:t>
            </a:r>
            <a:r>
              <a:rPr lang="es-ES" sz="2000" dirty="0">
                <a:solidFill>
                  <a:schemeClr val="tx1"/>
                </a:solidFill>
              </a:rPr>
              <a:t>f</a:t>
            </a:r>
            <a:r>
              <a:rPr lang="es-ES" sz="2000" dirty="0" smtClean="0"/>
              <a:t>irma </a:t>
            </a:r>
            <a:r>
              <a:rPr lang="es-ES" sz="2000" dirty="0">
                <a:solidFill>
                  <a:schemeClr val="tx1"/>
                </a:solidFill>
              </a:rPr>
              <a:t>e</a:t>
            </a:r>
            <a:r>
              <a:rPr lang="es-ES" sz="2000" dirty="0" smtClean="0"/>
              <a:t>lectrónica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algn="just"/>
            <a:endParaRPr lang="es-ES" sz="2200" dirty="0">
              <a:solidFill>
                <a:schemeClr val="tx1"/>
              </a:solidFill>
              <a:ea typeface="+mj-ea"/>
              <a:cs typeface="+mj-cs"/>
            </a:endParaRPr>
          </a:p>
          <a:p>
            <a:pPr algn="just"/>
            <a:r>
              <a:rPr lang="es-ES" sz="2200" dirty="0"/>
              <a:t>El acta de nacimiento de registro múltiple (gemelos) es un documento válido para el trámite de </a:t>
            </a:r>
            <a:r>
              <a:rPr lang="es-ES" sz="2200" dirty="0" smtClean="0"/>
              <a:t>f</a:t>
            </a:r>
            <a:r>
              <a:rPr lang="es-ES" sz="2200" dirty="0" smtClean="0"/>
              <a:t>irma electrónica</a:t>
            </a:r>
            <a:r>
              <a:rPr lang="es-ES" sz="2200" dirty="0" smtClean="0"/>
              <a:t>, adicional deberá llevar:</a:t>
            </a:r>
          </a:p>
          <a:p>
            <a:pPr algn="just"/>
            <a:endParaRPr lang="es-ES" sz="2200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ES" sz="2200" dirty="0" smtClean="0"/>
              <a:t>Identificación </a:t>
            </a:r>
            <a:r>
              <a:rPr lang="es-ES" sz="2200" dirty="0"/>
              <a:t>oficial </a:t>
            </a:r>
            <a:r>
              <a:rPr lang="es-ES" sz="2200" dirty="0" smtClean="0"/>
              <a:t>vigente.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ES" sz="2200" dirty="0" smtClean="0"/>
              <a:t>Un </a:t>
            </a:r>
            <a:r>
              <a:rPr lang="es-ES" sz="2200" dirty="0"/>
              <a:t>dispositivo USB ó </a:t>
            </a:r>
            <a:r>
              <a:rPr lang="es-ES" sz="2200" dirty="0" smtClean="0"/>
              <a:t>CD.</a:t>
            </a:r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125185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7. </a:t>
            </a:r>
            <a:r>
              <a:rPr lang="es-MX" sz="2200" dirty="0" smtClean="0">
                <a:solidFill>
                  <a:schemeClr val="tx1"/>
                </a:solidFill>
                <a:ea typeface="+mj-ea"/>
                <a:cs typeface="+mj-cs"/>
              </a:rPr>
              <a:t>Como documento de identidad tengo una Acta de Adopción,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¿Qué otro documento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debe presentar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para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realizar el trámite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de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firma electrónica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algn="just"/>
            <a:endParaRPr lang="es-ES" sz="2200" dirty="0">
              <a:solidFill>
                <a:schemeClr val="tx1"/>
              </a:solidFill>
              <a:ea typeface="+mj-ea"/>
              <a:cs typeface="+mj-cs"/>
            </a:endParaRPr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/>
              <a:t>Deberá presentar el certificado de inexistencia emitido por el registro civil en donde conste que no existe Acta de </a:t>
            </a:r>
            <a:r>
              <a:rPr lang="es-MX" sz="2200" dirty="0" smtClean="0"/>
              <a:t>Nacimiento.</a:t>
            </a:r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 smtClean="0"/>
              <a:t>Debe </a:t>
            </a:r>
            <a:r>
              <a:rPr lang="es-MX" sz="2200" dirty="0"/>
              <a:t>presentar una identificación oficial </a:t>
            </a:r>
            <a:r>
              <a:rPr lang="es-MX" sz="2200" dirty="0" smtClean="0"/>
              <a:t>vigente. </a:t>
            </a:r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 smtClean="0"/>
              <a:t>Un </a:t>
            </a:r>
            <a:r>
              <a:rPr lang="es-MX" sz="2200" dirty="0"/>
              <a:t>dispositivo USB ó CD para guardar su </a:t>
            </a:r>
            <a:r>
              <a:rPr lang="es-ES" sz="2200" dirty="0" smtClean="0"/>
              <a:t>firma electrónica</a:t>
            </a:r>
            <a:r>
              <a:rPr lang="es-MX" sz="2200" dirty="0"/>
              <a:t>.</a:t>
            </a:r>
            <a:endParaRPr lang="es-MX" sz="2200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58317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/>
          <a:p>
            <a:pPr lvl="0" algn="just"/>
            <a:r>
              <a:rPr lang="es-MX" dirty="0">
                <a:solidFill>
                  <a:schemeClr val="tx1"/>
                </a:solidFill>
                <a:ea typeface="+mj-ea"/>
                <a:cs typeface="+mj-cs"/>
              </a:rPr>
              <a:t>8. Soy una persona extranjera y </a:t>
            </a:r>
            <a:r>
              <a:rPr lang="es-MX" dirty="0" smtClean="0">
                <a:solidFill>
                  <a:schemeClr val="tx1"/>
                </a:solidFill>
                <a:ea typeface="+mj-ea"/>
                <a:cs typeface="+mj-cs"/>
              </a:rPr>
              <a:t>mi documento migratorio (FM2 o FM3), me </a:t>
            </a:r>
            <a:r>
              <a:rPr lang="es-MX" dirty="0">
                <a:solidFill>
                  <a:schemeClr val="tx1"/>
                </a:solidFill>
                <a:ea typeface="+mj-ea"/>
                <a:cs typeface="+mj-cs"/>
              </a:rPr>
              <a:t>fue recogido por el Instituto Nacional de Migración (INM</a:t>
            </a:r>
            <a:r>
              <a:rPr lang="es-MX" dirty="0" smtClean="0">
                <a:solidFill>
                  <a:schemeClr val="tx1"/>
                </a:solidFill>
                <a:ea typeface="+mj-ea"/>
                <a:cs typeface="+mj-cs"/>
              </a:rPr>
              <a:t>), </a:t>
            </a:r>
            <a:r>
              <a:rPr lang="es-MX" dirty="0">
                <a:solidFill>
                  <a:schemeClr val="tx1"/>
                </a:solidFill>
                <a:ea typeface="+mj-ea"/>
                <a:cs typeface="+mj-cs"/>
              </a:rPr>
              <a:t>me expiden un </a:t>
            </a:r>
            <a:r>
              <a:rPr lang="es-MX" dirty="0" smtClean="0">
                <a:solidFill>
                  <a:schemeClr val="tx1"/>
                </a:solidFill>
                <a:ea typeface="+mj-ea"/>
                <a:cs typeface="+mj-cs"/>
              </a:rPr>
              <a:t>NUT </a:t>
            </a:r>
            <a:r>
              <a:rPr lang="es-MX" dirty="0">
                <a:solidFill>
                  <a:schemeClr val="tx1"/>
                </a:solidFill>
                <a:ea typeface="+mj-ea"/>
                <a:cs typeface="+mj-cs"/>
              </a:rPr>
              <a:t>donde se especifica que el documento migratorio está en trámite, ¿puedo realizar el trámite de </a:t>
            </a:r>
            <a:r>
              <a:rPr lang="es-ES" dirty="0" smtClean="0">
                <a:solidFill>
                  <a:schemeClr val="tx1"/>
                </a:solidFill>
                <a:ea typeface="+mj-ea"/>
                <a:cs typeface="+mj-cs"/>
              </a:rPr>
              <a:t>firma electrónica</a:t>
            </a:r>
            <a:r>
              <a:rPr lang="es-MX" dirty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lvl="0" algn="just"/>
            <a:endParaRPr lang="es-MX" dirty="0">
              <a:solidFill>
                <a:schemeClr val="tx1"/>
              </a:solidFill>
              <a:ea typeface="+mj-ea"/>
              <a:cs typeface="+mj-cs"/>
            </a:endParaRPr>
          </a:p>
          <a:p>
            <a:pPr algn="just"/>
            <a:r>
              <a:rPr lang="es-ES" sz="2200" dirty="0" smtClean="0"/>
              <a:t>Sí es procedente el </a:t>
            </a:r>
            <a:r>
              <a:rPr lang="es-ES" sz="2200" dirty="0"/>
              <a:t>trámite de </a:t>
            </a:r>
            <a:r>
              <a:rPr lang="es-ES" sz="2200" dirty="0" smtClean="0"/>
              <a:t>firma electrónica</a:t>
            </a:r>
            <a:r>
              <a:rPr lang="es-ES" sz="2200" dirty="0"/>
              <a:t>, debido </a:t>
            </a:r>
            <a:r>
              <a:rPr lang="es-ES" sz="2200" dirty="0" smtClean="0"/>
              <a:t>a que el NUT es el Número </a:t>
            </a:r>
            <a:r>
              <a:rPr lang="es-ES" sz="2200" dirty="0"/>
              <a:t>Ú</a:t>
            </a:r>
            <a:r>
              <a:rPr lang="es-ES" sz="2200" dirty="0" smtClean="0"/>
              <a:t>nico de Trámite.</a:t>
            </a:r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1848457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68552"/>
          </a:xfrm>
        </p:spPr>
        <p:txBody>
          <a:bodyPr>
            <a:normAutofit fontScale="25000" lnSpcReduction="20000"/>
          </a:bodyPr>
          <a:lstStyle/>
          <a:p>
            <a:pPr lvl="0" algn="just"/>
            <a:r>
              <a:rPr lang="es-MX" sz="8800" dirty="0">
                <a:solidFill>
                  <a:schemeClr val="tx1"/>
                </a:solidFill>
                <a:ea typeface="+mj-ea"/>
                <a:cs typeface="+mj-cs"/>
              </a:rPr>
              <a:t>9. ¿Un menor de edad puede tramitar la Firma Electrónica?</a:t>
            </a:r>
          </a:p>
          <a:p>
            <a:pPr lvl="0" algn="just"/>
            <a:endParaRPr lang="es-MX" sz="5500" dirty="0"/>
          </a:p>
          <a:p>
            <a:pPr algn="just"/>
            <a:r>
              <a:rPr lang="es-ES" sz="6400" dirty="0" smtClean="0"/>
              <a:t>Sí puede </a:t>
            </a:r>
            <a:r>
              <a:rPr lang="es-ES" sz="6400" dirty="0"/>
              <a:t>tramitar la </a:t>
            </a:r>
            <a:r>
              <a:rPr lang="es-ES" sz="6400" dirty="0" smtClean="0"/>
              <a:t>firma electrónica</a:t>
            </a:r>
            <a:r>
              <a:rPr lang="es-ES" sz="6400" dirty="0"/>
              <a:t>, se realiza mediante </a:t>
            </a:r>
            <a:r>
              <a:rPr lang="es-ES" sz="6400" dirty="0"/>
              <a:t>un representante legal (puede ser el padre o tutor y no será necesario </a:t>
            </a:r>
            <a:r>
              <a:rPr lang="es-ES" sz="6400" dirty="0"/>
              <a:t>que el </a:t>
            </a:r>
            <a:r>
              <a:rPr lang="es-ES" sz="6400" dirty="0" smtClean="0"/>
              <a:t>menor </a:t>
            </a:r>
            <a:r>
              <a:rPr lang="es-ES" sz="6400" dirty="0"/>
              <a:t>de edad comparezca ante el Servicio de Administración Tributaria para realizar el trámite), debiendo presentar la siguiente documentación: </a:t>
            </a:r>
            <a:endParaRPr lang="es-MX" sz="6400" dirty="0"/>
          </a:p>
          <a:p>
            <a:pPr algn="just"/>
            <a:endParaRPr lang="es-ES" sz="6400" dirty="0"/>
          </a:p>
          <a:p>
            <a:pPr indent="-8572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6400" dirty="0" smtClean="0"/>
              <a:t>El </a:t>
            </a:r>
            <a:r>
              <a:rPr lang="es-MX" sz="6400" dirty="0"/>
              <a:t>padre o tutor debe contar con un certificado de </a:t>
            </a:r>
            <a:r>
              <a:rPr lang="es-ES" sz="6400" dirty="0"/>
              <a:t>firma electrónica </a:t>
            </a:r>
            <a:r>
              <a:rPr lang="es-ES" sz="6400" dirty="0" smtClean="0"/>
              <a:t>	</a:t>
            </a:r>
            <a:r>
              <a:rPr lang="es-MX" sz="6400" dirty="0" smtClean="0"/>
              <a:t>vigente</a:t>
            </a:r>
            <a:r>
              <a:rPr lang="es-MX" sz="6400" dirty="0"/>
              <a:t>.</a:t>
            </a:r>
          </a:p>
          <a:p>
            <a:pPr lvl="0" algn="just"/>
            <a:r>
              <a:rPr lang="es-MX" sz="6400" dirty="0" smtClean="0"/>
              <a:t>	Copia </a:t>
            </a:r>
            <a:r>
              <a:rPr lang="es-MX" sz="6400" dirty="0"/>
              <a:t>certificada del </a:t>
            </a:r>
            <a:r>
              <a:rPr lang="es-MX" sz="6400" dirty="0" smtClean="0"/>
              <a:t>acta de nacimiento del </a:t>
            </a:r>
            <a:r>
              <a:rPr lang="es-MX" sz="6400" dirty="0"/>
              <a:t>contribuyente menor de edad </a:t>
            </a:r>
            <a:r>
              <a:rPr lang="es-MX" sz="6400" dirty="0" smtClean="0"/>
              <a:t>	representado.</a:t>
            </a:r>
          </a:p>
          <a:p>
            <a:pPr marL="857250" lvl="0" indent="-8572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6400" dirty="0" smtClean="0"/>
              <a:t>Original</a:t>
            </a:r>
            <a:r>
              <a:rPr lang="es-MX" sz="6400" dirty="0"/>
              <a:t> del escrito libre en el que se manifieste la conformidad de los padres y/o tutores para que uno de ellos actúe como representante del menor.  Tratándose del último supuesto deberán anexar la resolución judicial o documento emitido por fedatario público en el que conste la patria potestad o la </a:t>
            </a:r>
            <a:r>
              <a:rPr lang="es-MX" sz="6400" dirty="0" smtClean="0"/>
              <a:t>tutela.</a:t>
            </a:r>
          </a:p>
          <a:p>
            <a:pPr marL="857250" lvl="0" indent="-8572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6400" dirty="0" smtClean="0"/>
              <a:t>En </a:t>
            </a:r>
            <a:r>
              <a:rPr lang="es-MX" sz="6400" dirty="0"/>
              <a:t>los casos en que en el acta de nacimiento y/o en la resolución judicial o documento emitido por fedatario público en el que conste la patria potestad o tutela se encuentre señalado solamente un padre o tutor, no será necesario acompañar el escrito libre citado en el párrafo </a:t>
            </a:r>
            <a:r>
              <a:rPr lang="es-MX" sz="6400" dirty="0" smtClean="0"/>
              <a:t>anterior.</a:t>
            </a:r>
          </a:p>
          <a:p>
            <a:pPr marL="857250" lvl="0" indent="-8572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6400" dirty="0" smtClean="0"/>
              <a:t>Identificación oficial vigente </a:t>
            </a:r>
            <a:r>
              <a:rPr lang="es-MX" sz="6400" dirty="0"/>
              <a:t>del padre o </a:t>
            </a:r>
            <a:r>
              <a:rPr lang="es-MX" sz="6400" dirty="0" smtClean="0"/>
              <a:t>tutor.</a:t>
            </a:r>
          </a:p>
          <a:p>
            <a:pPr marL="857250" lvl="0" indent="-8572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6400" dirty="0" smtClean="0"/>
              <a:t>Dispositivo </a:t>
            </a:r>
            <a:r>
              <a:rPr lang="es-MX" sz="6400" dirty="0"/>
              <a:t>USB ó CD, para guardar su </a:t>
            </a:r>
            <a:r>
              <a:rPr lang="es-ES" sz="6400" dirty="0"/>
              <a:t>firma electrónica</a:t>
            </a:r>
            <a:r>
              <a:rPr lang="es-MX" sz="6400" dirty="0" smtClean="0"/>
              <a:t>.</a:t>
            </a:r>
            <a:endParaRPr lang="es-MX" sz="6400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3380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10. </a:t>
            </a:r>
            <a:r>
              <a:rPr lang="es-MX" sz="2200" dirty="0" smtClean="0">
                <a:solidFill>
                  <a:schemeClr val="tx1"/>
                </a:solidFill>
                <a:ea typeface="+mj-ea"/>
                <a:cs typeface="+mj-cs"/>
              </a:rPr>
              <a:t>Por cuestiones médicas requiero el uso de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un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aparato de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rehabilitación, mismo que impide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me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tomen varias huellas, ¿Puedo solicitar mi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firma electrónica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  <a:endParaRPr lang="es-ES" sz="2200" dirty="0">
              <a:solidFill>
                <a:schemeClr val="tx1"/>
              </a:solidFill>
              <a:ea typeface="+mj-ea"/>
              <a:cs typeface="+mj-cs"/>
            </a:endParaRPr>
          </a:p>
          <a:p>
            <a:endParaRPr lang="es-ES" dirty="0" smtClean="0"/>
          </a:p>
          <a:p>
            <a:pPr marL="0" lvl="1" indent="0" algn="just">
              <a:buNone/>
            </a:pPr>
            <a:r>
              <a:rPr lang="es-MX" sz="2200" dirty="0"/>
              <a:t>Sí </a:t>
            </a:r>
            <a:r>
              <a:rPr lang="es-MX" sz="2200" dirty="0" smtClean="0"/>
              <a:t>es procedente el trámite, </a:t>
            </a:r>
            <a:r>
              <a:rPr lang="es-MX" sz="2200" dirty="0"/>
              <a:t>siempre que </a:t>
            </a:r>
            <a:r>
              <a:rPr lang="es-MX" sz="2200" dirty="0" smtClean="0"/>
              <a:t>se presente </a:t>
            </a:r>
            <a:r>
              <a:rPr lang="es-MX" sz="2200" dirty="0"/>
              <a:t>el certificado </a:t>
            </a:r>
            <a:r>
              <a:rPr lang="es-MX" sz="2200" dirty="0" smtClean="0"/>
              <a:t>médico, que contenga el nombre </a:t>
            </a:r>
            <a:r>
              <a:rPr lang="es-MX" sz="2200" dirty="0"/>
              <a:t>de la Institución médica y/o medico, Registro Federal de Contribuyentes, Cédula profesional, domicilio, datos del paciente (contribuyente), descripción del impedimento que avale dicha </a:t>
            </a:r>
            <a:r>
              <a:rPr lang="es-MX" sz="2200" dirty="0" smtClean="0"/>
              <a:t>situación; mismo que se digitalizará con </a:t>
            </a:r>
            <a:r>
              <a:rPr lang="es-MX" sz="2200" dirty="0"/>
              <a:t>la solicitud de </a:t>
            </a:r>
            <a:r>
              <a:rPr lang="es-ES" sz="2200" dirty="0" smtClean="0"/>
              <a:t>firma electrónica</a:t>
            </a:r>
            <a:r>
              <a:rPr lang="es-MX" sz="2200" dirty="0"/>
              <a:t>.</a:t>
            </a:r>
            <a:endParaRPr lang="es-MX" sz="2200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8591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>
            <a:normAutofit/>
          </a:bodyPr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11.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¿Para qué sirve la cuenta de correo electrónico que anexé al generar mis archivos en la aplicación?</a:t>
            </a:r>
          </a:p>
          <a:p>
            <a:pPr algn="just"/>
            <a:endParaRPr lang="es-ES" sz="2200" dirty="0" smtClean="0"/>
          </a:p>
          <a:p>
            <a:pPr lvl="0" algn="just"/>
            <a:r>
              <a:rPr lang="es-MX" sz="2200" dirty="0"/>
              <a:t>Para recibir notificaciones o avisos relacionados con el trámite</a:t>
            </a:r>
            <a:r>
              <a:rPr lang="es-MX" sz="2200" dirty="0" smtClean="0"/>
              <a:t>.</a:t>
            </a:r>
          </a:p>
          <a:p>
            <a:pPr lvl="0" algn="just"/>
            <a:endParaRPr lang="es-MX" sz="2200" dirty="0" smtClean="0"/>
          </a:p>
          <a:p>
            <a:pPr lvl="0" algn="just"/>
            <a:r>
              <a:rPr lang="es-ES" dirty="0">
                <a:solidFill>
                  <a:schemeClr val="tx1"/>
                </a:solidFill>
                <a:ea typeface="+mj-ea"/>
                <a:cs typeface="+mj-cs"/>
              </a:rPr>
              <a:t>12. ¿Qué sucede si quiero hacer mi trámite de </a:t>
            </a:r>
            <a:r>
              <a:rPr lang="es-ES" dirty="0" smtClean="0">
                <a:solidFill>
                  <a:schemeClr val="tx1"/>
                </a:solidFill>
                <a:ea typeface="+mj-ea"/>
                <a:cs typeface="+mj-cs"/>
              </a:rPr>
              <a:t>firma electrónica </a:t>
            </a:r>
            <a:r>
              <a:rPr lang="es-ES" dirty="0">
                <a:solidFill>
                  <a:schemeClr val="tx1"/>
                </a:solidFill>
                <a:ea typeface="+mj-ea"/>
                <a:cs typeface="+mj-cs"/>
              </a:rPr>
              <a:t>y no cuento con un correo electrónico</a:t>
            </a:r>
            <a:r>
              <a:rPr lang="es-ES" dirty="0">
                <a:solidFill>
                  <a:schemeClr val="tx1"/>
                </a:solidFill>
                <a:ea typeface="+mj-ea"/>
                <a:cs typeface="+mj-cs"/>
              </a:rPr>
              <a:t>?</a:t>
            </a:r>
          </a:p>
          <a:p>
            <a:pPr lvl="0" algn="just"/>
            <a:endParaRPr lang="es-ES" sz="2200" dirty="0" smtClean="0"/>
          </a:p>
          <a:p>
            <a:pPr lvl="0" algn="just"/>
            <a:r>
              <a:rPr lang="es-ES" sz="2200" dirty="0"/>
              <a:t>El correo electrónico es un dato indispensable para  realizar </a:t>
            </a:r>
            <a:r>
              <a:rPr lang="es-ES" sz="2200" dirty="0" smtClean="0"/>
              <a:t>sus archivos </a:t>
            </a:r>
            <a:r>
              <a:rPr lang="es-ES" sz="2200" dirty="0"/>
              <a:t>de requerimiento y </a:t>
            </a:r>
            <a:r>
              <a:rPr lang="es-ES" sz="2200" dirty="0" smtClean="0"/>
              <a:t>clave </a:t>
            </a:r>
            <a:r>
              <a:rPr lang="es-ES" sz="2200" dirty="0"/>
              <a:t>privada </a:t>
            </a:r>
            <a:r>
              <a:rPr lang="es-ES" sz="2200" dirty="0" smtClean="0"/>
              <a:t>(*.</a:t>
            </a:r>
            <a:r>
              <a:rPr lang="es-ES" sz="2200" dirty="0" err="1"/>
              <a:t>req</a:t>
            </a:r>
            <a:r>
              <a:rPr lang="es-ES" sz="2200" dirty="0"/>
              <a:t> y </a:t>
            </a:r>
            <a:r>
              <a:rPr lang="es-ES" sz="2200" dirty="0" smtClean="0"/>
              <a:t>*.</a:t>
            </a:r>
            <a:r>
              <a:rPr lang="es-ES" sz="2200" dirty="0" err="1"/>
              <a:t>key</a:t>
            </a:r>
            <a:r>
              <a:rPr lang="es-ES" sz="2200" dirty="0"/>
              <a:t>), </a:t>
            </a:r>
            <a:r>
              <a:rPr lang="es-ES" sz="2200" dirty="0" smtClean="0"/>
              <a:t>de no escribir esta información la aplicación Certifica no permite se concluya con el proceso.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9148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13.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Radico en el extranjero y deseo tramitar el certificado de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firma electrónica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,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¿lo puedo hacer desde el país donde estoy viviendo?</a:t>
            </a:r>
          </a:p>
          <a:p>
            <a:pPr algn="just"/>
            <a:endParaRPr lang="es-ES" sz="2200" dirty="0" smtClean="0"/>
          </a:p>
          <a:p>
            <a:pPr lvl="0" algn="just"/>
            <a:r>
              <a:rPr lang="es-MX" sz="2200" dirty="0"/>
              <a:t>No, el trámite de la </a:t>
            </a:r>
            <a:r>
              <a:rPr lang="es-ES" sz="2200" dirty="0" smtClean="0"/>
              <a:t>firma electrónica</a:t>
            </a:r>
            <a:r>
              <a:rPr lang="es-MX" sz="2200" dirty="0" smtClean="0"/>
              <a:t> </a:t>
            </a:r>
            <a:r>
              <a:rPr lang="es-MX" sz="2200" dirty="0"/>
              <a:t>debe realizarse de manera </a:t>
            </a:r>
            <a:r>
              <a:rPr lang="es-MX" sz="2200" dirty="0" smtClean="0"/>
              <a:t>presencial, </a:t>
            </a:r>
            <a:r>
              <a:rPr lang="es-MX" sz="2200" dirty="0"/>
              <a:t>toda vez que se </a:t>
            </a:r>
            <a:r>
              <a:rPr lang="es-MX" sz="2200" dirty="0" smtClean="0"/>
              <a:t>recaban </a:t>
            </a:r>
            <a:r>
              <a:rPr lang="es-MX" sz="2200" dirty="0"/>
              <a:t>datos biométricos </a:t>
            </a:r>
            <a:r>
              <a:rPr lang="es-MX" sz="2200" dirty="0" smtClean="0"/>
              <a:t>(</a:t>
            </a:r>
            <a:r>
              <a:rPr lang="es-MX" sz="2200" dirty="0"/>
              <a:t>fotografía, huellas dactilares, escaneo de iris, captura de firma autógrafa y escaneo de documentos</a:t>
            </a:r>
            <a:r>
              <a:rPr lang="es-MX" sz="2200" dirty="0" smtClean="0"/>
              <a:t>).</a:t>
            </a:r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1946265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14. El Poder para actos de dominio o administración de la Persona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Moral es mancomunado, ¿puedo realizar el trámite de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firma electrónica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?</a:t>
            </a:r>
            <a:endParaRPr lang="es-ES" sz="2200" dirty="0">
              <a:solidFill>
                <a:schemeClr val="tx1"/>
              </a:solidFill>
              <a:ea typeface="+mj-ea"/>
              <a:cs typeface="+mj-cs"/>
            </a:endParaRPr>
          </a:p>
          <a:p>
            <a:pPr algn="just"/>
            <a:endParaRPr lang="es-ES" sz="2200" dirty="0" smtClean="0"/>
          </a:p>
          <a:p>
            <a:pPr lvl="0" algn="just"/>
            <a:r>
              <a:rPr lang="es-MX" sz="2200" dirty="0"/>
              <a:t>No podrá realizar el trámite, de acuerdo a lo establecido en el artículo 19-A, primer párrafo del Código Fiscal de la Federación, </a:t>
            </a:r>
            <a:r>
              <a:rPr lang="es-MX" sz="2200" dirty="0" smtClean="0"/>
              <a:t>sólo </a:t>
            </a:r>
            <a:r>
              <a:rPr lang="es-MX" sz="2200" dirty="0"/>
              <a:t>podrá efectuar el trámite un representante de dicha persona, a quien le haya sido otorgado ante fedatario público, un poder general para actos de dominio o de administración.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35779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Preguntas frecuentes sobre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886003"/>
          </a:xfrm>
        </p:spPr>
        <p:txBody>
          <a:bodyPr>
            <a:normAutofit/>
          </a:bodyPr>
          <a:lstStyle/>
          <a:p>
            <a:pPr algn="just"/>
            <a:r>
              <a:rPr lang="es-MX" sz="2200" dirty="0">
                <a:solidFill>
                  <a:schemeClr val="tx1"/>
                </a:solidFill>
                <a:ea typeface="+mj-ea"/>
                <a:cs typeface="+mj-cs"/>
              </a:rPr>
              <a:t>15.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¿Qué documentos se deben presentar para tramitar la </a:t>
            </a:r>
            <a:r>
              <a:rPr lang="es-ES" sz="2200" dirty="0" smtClean="0">
                <a:solidFill>
                  <a:schemeClr val="tx1"/>
                </a:solidFill>
                <a:ea typeface="+mj-ea"/>
                <a:cs typeface="+mj-cs"/>
              </a:rPr>
              <a:t>firma electrónica </a:t>
            </a:r>
            <a:r>
              <a:rPr lang="es-ES" sz="2200" dirty="0">
                <a:solidFill>
                  <a:schemeClr val="tx1"/>
                </a:solidFill>
                <a:ea typeface="+mj-ea"/>
                <a:cs typeface="+mj-cs"/>
              </a:rPr>
              <a:t>de una persona con incapacidad legal?</a:t>
            </a:r>
          </a:p>
          <a:p>
            <a:pPr algn="just"/>
            <a:endParaRPr lang="es-ES" sz="2200" dirty="0" smtClean="0"/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/>
              <a:t>El representante legal deberá contar con un certificado de </a:t>
            </a:r>
            <a:r>
              <a:rPr lang="es-ES" sz="2200" dirty="0" smtClean="0"/>
              <a:t>firma electrónica </a:t>
            </a:r>
            <a:r>
              <a:rPr lang="es-MX" sz="2200" dirty="0" smtClean="0"/>
              <a:t>activo.</a:t>
            </a:r>
            <a:endParaRPr lang="es-MX" sz="2200" dirty="0"/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 smtClean="0"/>
              <a:t>Acta </a:t>
            </a:r>
            <a:r>
              <a:rPr lang="es-MX" sz="2200" dirty="0"/>
              <a:t>de nacimiento </a:t>
            </a:r>
            <a:r>
              <a:rPr lang="es-MX" sz="2200" dirty="0" smtClean="0"/>
              <a:t>de la persona con incapacidad legal.</a:t>
            </a:r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 smtClean="0"/>
              <a:t>Resolución </a:t>
            </a:r>
            <a:r>
              <a:rPr lang="es-MX" sz="2200" dirty="0"/>
              <a:t>judicial definitiva, en la cual se declare la incapacidad del </a:t>
            </a:r>
            <a:r>
              <a:rPr lang="es-MX" sz="2200" dirty="0" smtClean="0"/>
              <a:t>representado.</a:t>
            </a:r>
            <a:endParaRPr lang="es-MX" sz="2200" dirty="0"/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 smtClean="0"/>
              <a:t>Identificación </a:t>
            </a:r>
            <a:r>
              <a:rPr lang="es-MX" sz="2200" dirty="0"/>
              <a:t>oficial vigente del representante </a:t>
            </a:r>
            <a:r>
              <a:rPr lang="es-MX" sz="2200" dirty="0" smtClean="0"/>
              <a:t>legal.</a:t>
            </a:r>
          </a:p>
          <a:p>
            <a:pPr marL="342900" lvl="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200" dirty="0" smtClean="0"/>
              <a:t>Dispositivo </a:t>
            </a:r>
            <a:r>
              <a:rPr lang="es-MX" sz="2200" dirty="0"/>
              <a:t>USB ó CD para guardar su </a:t>
            </a:r>
            <a:r>
              <a:rPr lang="es-ES" sz="2000" dirty="0"/>
              <a:t>firma </a:t>
            </a:r>
            <a:r>
              <a:rPr lang="es-ES" sz="2000" dirty="0" smtClean="0"/>
              <a:t>electrónica</a:t>
            </a:r>
            <a:r>
              <a:rPr lang="es-MX" sz="2200" dirty="0" smtClean="0"/>
              <a:t>.</a:t>
            </a:r>
            <a:endParaRPr lang="es-MX" sz="2200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12779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1003</Words>
  <Application>Microsoft Office PowerPoint</Application>
  <PresentationFormat>Presentación en pantalla (4:3)</PresentationFormat>
  <Paragraphs>82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  <vt:lpstr>Preguntas frecuentes sobre Firma Electrónica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Isabel Magali Cortes Trejo</cp:lastModifiedBy>
  <cp:revision>14</cp:revision>
  <dcterms:created xsi:type="dcterms:W3CDTF">2015-02-16T19:32:04Z</dcterms:created>
  <dcterms:modified xsi:type="dcterms:W3CDTF">2015-07-06T20:33:08Z</dcterms:modified>
</cp:coreProperties>
</file>