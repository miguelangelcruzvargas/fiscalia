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66"/>
    <a:srgbClr val="095B1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>
      <p:cViewPr varScale="1">
        <p:scale>
          <a:sx n="82" d="100"/>
          <a:sy n="82" d="100"/>
        </p:scale>
        <p:origin x="-138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68" y="0"/>
            <a:ext cx="914213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339752" y="2636912"/>
            <a:ext cx="6120680" cy="1470025"/>
          </a:xfrm>
        </p:spPr>
        <p:txBody>
          <a:bodyPr/>
          <a:lstStyle>
            <a:lvl1pPr>
              <a:defRPr b="1" baseline="0">
                <a:solidFill>
                  <a:srgbClr val="095B1E"/>
                </a:solidFill>
              </a:defRPr>
            </a:lvl1pPr>
          </a:lstStyle>
          <a:p>
            <a:r>
              <a:rPr lang="es-ES" dirty="0" smtClean="0"/>
              <a:t>Escribe el título de tu presentación aquí...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2627784" y="6309320"/>
            <a:ext cx="3272408" cy="334888"/>
          </a:xfrm>
        </p:spPr>
        <p:txBody>
          <a:bodyPr>
            <a:normAutofit/>
          </a:bodyPr>
          <a:lstStyle>
            <a:lvl1pPr marL="0" indent="0" algn="ctr">
              <a:buNone/>
              <a:defRPr sz="1400" baseline="0">
                <a:solidFill>
                  <a:srgbClr val="095B1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Escribe la fecha del documento…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xmlns="" val="17537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4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2840" y="188640"/>
            <a:ext cx="8229600" cy="418058"/>
          </a:xfrm>
        </p:spPr>
        <p:txBody>
          <a:bodyPr>
            <a:normAutofit/>
          </a:bodyPr>
          <a:lstStyle>
            <a:lvl1pPr algn="l">
              <a:defRPr sz="3200" baseline="0">
                <a:latin typeface="Soberana Sans" pitchFamily="50" charset="0"/>
              </a:defRPr>
            </a:lvl1pPr>
          </a:lstStyle>
          <a:p>
            <a:r>
              <a:rPr lang="es-ES" dirty="0" smtClean="0"/>
              <a:t>Escribe el subtítulo…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3pPr>
            <a:lvl4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4pPr>
            <a:lvl5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Soberana Sans" pitchFamily="50" charset="0"/>
              </a:defRPr>
            </a:lvl5pPr>
          </a:lstStyle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319594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10219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226008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1751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35744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345342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206918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395931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137243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20039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C5894-968D-426B-B09E-694FB3E11320}" type="datetimeFigureOut">
              <a:rPr lang="es-MX" smtClean="0"/>
              <a:pPr/>
              <a:t>06/07/2015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711D-C1E1-4687-B7C9-A99A53208E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428277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339752" y="2636912"/>
            <a:ext cx="6120680" cy="2520280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solidFill>
                  <a:srgbClr val="006666"/>
                </a:solidFill>
              </a:rPr>
              <a:t>Renovación y Revocación de la Firma Electrónica desde el portal de internet del SAT</a:t>
            </a:r>
            <a:endParaRPr lang="es-MX" dirty="0">
              <a:solidFill>
                <a:srgbClr val="006666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xmlns="" val="351438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4525963"/>
          </a:xfrm>
        </p:spPr>
        <p:txBody>
          <a:bodyPr>
            <a:normAutofit/>
          </a:bodyPr>
          <a:lstStyle/>
          <a:p>
            <a:pPr algn="just"/>
            <a:endParaRPr lang="es-MX" dirty="0" smtClean="0">
              <a:solidFill>
                <a:srgbClr val="002060"/>
              </a:solidFill>
              <a:latin typeface="Constantia" pitchFamily="18" charset="0"/>
            </a:endParaRPr>
          </a:p>
          <a:p>
            <a:pPr>
              <a:buNone/>
            </a:pPr>
            <a:endParaRPr lang="es-MX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Renovación desde el portal de internet del SAT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545599" y="1124744"/>
            <a:ext cx="82116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/>
            <a:r>
              <a:rPr lang="es-MX" sz="2000" dirty="0" smtClean="0">
                <a:latin typeface="Soberana Sans" pitchFamily="50" charset="0"/>
              </a:rPr>
              <a:t>Ingresa al portal del SAT, sat.gob.mx, y sigue la ruta:</a:t>
            </a:r>
          </a:p>
          <a:p>
            <a:pPr lvl="0" algn="just"/>
            <a:r>
              <a:rPr lang="es-MX" sz="2000" dirty="0">
                <a:latin typeface="Soberana Sans" pitchFamily="50" charset="0"/>
              </a:rPr>
              <a:t> </a:t>
            </a:r>
            <a:r>
              <a:rPr lang="es-MX" sz="2000" dirty="0" smtClean="0">
                <a:latin typeface="Soberana Sans" pitchFamily="50" charset="0"/>
              </a:rPr>
              <a:t>   </a:t>
            </a:r>
          </a:p>
          <a:p>
            <a:pPr lvl="0" algn="just"/>
            <a:r>
              <a:rPr lang="es-MX" sz="2000" dirty="0">
                <a:latin typeface="Soberana Sans" pitchFamily="50" charset="0"/>
              </a:rPr>
              <a:t>  </a:t>
            </a:r>
            <a:r>
              <a:rPr lang="es-MX" sz="2000" dirty="0" smtClean="0">
                <a:latin typeface="Soberana Sans" pitchFamily="50" charset="0"/>
              </a:rPr>
              <a:t>-Información; </a:t>
            </a:r>
          </a:p>
          <a:p>
            <a:pPr lvl="0" algn="just"/>
            <a:r>
              <a:rPr lang="es-MX" sz="2000" dirty="0">
                <a:latin typeface="Soberana Sans" pitchFamily="50" charset="0"/>
              </a:rPr>
              <a:t> </a:t>
            </a:r>
            <a:r>
              <a:rPr lang="es-MX" sz="2000" dirty="0" smtClean="0">
                <a:latin typeface="Soberana Sans" pitchFamily="50" charset="0"/>
              </a:rPr>
              <a:t> -Firma Electrónica, y; </a:t>
            </a:r>
          </a:p>
          <a:p>
            <a:pPr lvl="0" algn="just"/>
            <a:r>
              <a:rPr lang="es-MX" sz="2000" dirty="0">
                <a:latin typeface="Soberana Sans" pitchFamily="50" charset="0"/>
              </a:rPr>
              <a:t> </a:t>
            </a:r>
            <a:r>
              <a:rPr lang="es-MX" sz="2000" dirty="0" smtClean="0">
                <a:latin typeface="Soberana Sans" pitchFamily="50" charset="0"/>
              </a:rPr>
              <a:t> -Como renovar tu Firma Electrónica.</a:t>
            </a:r>
          </a:p>
          <a:p>
            <a:pPr lvl="0" algn="just"/>
            <a:endParaRPr lang="es-MX" sz="2000" dirty="0">
              <a:latin typeface="Soberana Sans" pitchFamily="50" charset="0"/>
            </a:endParaRPr>
          </a:p>
          <a:p>
            <a:pPr lvl="0" algn="just"/>
            <a:r>
              <a:rPr lang="es-MX" sz="2000" dirty="0" smtClean="0">
                <a:latin typeface="Soberana Sans" pitchFamily="50" charset="0"/>
              </a:rPr>
              <a:t>Entra al programa Certifica (antes Solcedi).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9236" y="3686238"/>
            <a:ext cx="5943004" cy="226304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6 Flecha derecha"/>
          <p:cNvSpPr/>
          <p:nvPr/>
        </p:nvSpPr>
        <p:spPr>
          <a:xfrm rot="14826684">
            <a:off x="2288123" y="4482384"/>
            <a:ext cx="241843" cy="216441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367831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13988" y="96470"/>
            <a:ext cx="85624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Renovación desde el portal de internet del SAT</a:t>
            </a:r>
            <a:endParaRPr lang="es-MX" sz="2800" b="1" dirty="0">
              <a:latin typeface="Soberana Sans" pitchFamily="50" charset="0"/>
              <a:ea typeface="+mj-ea"/>
              <a:cs typeface="+mj-cs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251520" y="1012666"/>
            <a:ext cx="77759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/>
            <a:r>
              <a:rPr lang="es-MX" sz="2000" dirty="0" smtClean="0">
                <a:latin typeface="Soberana Sans" pitchFamily="50" charset="0"/>
              </a:rPr>
              <a:t>Ingresa en la opción </a:t>
            </a:r>
            <a:r>
              <a:rPr lang="es-MX" sz="2000" b="1" dirty="0" smtClean="0">
                <a:latin typeface="Soberana Sans" pitchFamily="50" charset="0"/>
              </a:rPr>
              <a:t>Certifica </a:t>
            </a:r>
            <a:r>
              <a:rPr lang="es-MX" sz="2000" dirty="0" smtClean="0">
                <a:latin typeface="Soberana Sans" pitchFamily="50" charset="0"/>
              </a:rPr>
              <a:t>(32 bits).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9141"/>
            <a:ext cx="4968552" cy="208588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381045" y="3861048"/>
            <a:ext cx="8655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/>
            <a:r>
              <a:rPr lang="es-MX" sz="2000" dirty="0" smtClean="0">
                <a:latin typeface="Soberana Sans" pitchFamily="50" charset="0"/>
              </a:rPr>
              <a:t>Abre o guarda en tu equipo la aplicación </a:t>
            </a:r>
            <a:r>
              <a:rPr lang="es-MX" sz="2000" b="1" dirty="0" smtClean="0">
                <a:latin typeface="Soberana Sans" pitchFamily="50" charset="0"/>
              </a:rPr>
              <a:t>Certifica</a:t>
            </a:r>
            <a:r>
              <a:rPr lang="es-MX" sz="2000" dirty="0" smtClean="0">
                <a:latin typeface="Soberana Sans" pitchFamily="50" charset="0"/>
              </a:rPr>
              <a:t>.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46361" y="4365104"/>
            <a:ext cx="3704978" cy="236525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7 Llamada rectangular redondeada"/>
          <p:cNvSpPr/>
          <p:nvPr/>
        </p:nvSpPr>
        <p:spPr>
          <a:xfrm>
            <a:off x="4716016" y="1700808"/>
            <a:ext cx="3816424" cy="864096"/>
          </a:xfrm>
          <a:prstGeom prst="wedgeRoundRectCallout">
            <a:avLst>
              <a:gd name="adj1" fmla="val -49562"/>
              <a:gd name="adj2" fmla="val 91055"/>
              <a:gd name="adj3" fmla="val 16667"/>
            </a:avLst>
          </a:prstGeom>
          <a:solidFill>
            <a:schemeClr val="bg1"/>
          </a:solidFill>
          <a:ln>
            <a:gradFill>
              <a:gsLst>
                <a:gs pos="0">
                  <a:schemeClr val="bg1">
                    <a:lumMod val="8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 smtClean="0">
                <a:solidFill>
                  <a:schemeClr val="tx1"/>
                </a:solidFill>
                <a:latin typeface="Soberana Sans" pitchFamily="50" charset="0"/>
              </a:rPr>
              <a:t>Si no se ejecuta el programa, ingresa con la opción 64 bits</a:t>
            </a:r>
          </a:p>
        </p:txBody>
      </p:sp>
      <p:sp>
        <p:nvSpPr>
          <p:cNvPr id="9" name="8 Flecha derecha"/>
          <p:cNvSpPr/>
          <p:nvPr/>
        </p:nvSpPr>
        <p:spPr>
          <a:xfrm rot="11710994">
            <a:off x="3680197" y="2627728"/>
            <a:ext cx="365942" cy="2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xmlns="" val="210312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395536" y="980728"/>
            <a:ext cx="8135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dirty="0" smtClean="0">
                <a:solidFill>
                  <a:srgbClr val="002060"/>
                </a:solidFill>
                <a:latin typeface="Soberana Sans" pitchFamily="50" charset="0"/>
              </a:rPr>
              <a:t> </a:t>
            </a:r>
            <a:r>
              <a:rPr lang="es-MX" sz="2000" dirty="0" smtClean="0">
                <a:latin typeface="Soberana Sans" pitchFamily="50" charset="0"/>
              </a:rPr>
              <a:t>Elige la opción </a:t>
            </a:r>
            <a:r>
              <a:rPr lang="es-MX" sz="2000" b="1" dirty="0" smtClean="0">
                <a:latin typeface="Soberana Sans" pitchFamily="50" charset="0"/>
              </a:rPr>
              <a:t>Requerimiento de Renovación de Firma</a:t>
            </a:r>
          </a:p>
          <a:p>
            <a:pPr algn="just"/>
            <a:r>
              <a:rPr lang="es-MX" sz="2000" b="1" dirty="0" smtClean="0">
                <a:latin typeface="Soberana Sans" pitchFamily="50" charset="0"/>
              </a:rPr>
              <a:t> Electrónica</a:t>
            </a:r>
            <a:r>
              <a:rPr lang="es-MX" sz="2000" dirty="0" smtClean="0">
                <a:latin typeface="Soberana Sans" pitchFamily="50" charset="0"/>
              </a:rPr>
              <a:t>. 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113988" y="96470"/>
            <a:ext cx="8634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Renovación desde el portal de internet del SAT</a:t>
            </a:r>
            <a:endParaRPr lang="es-MX" sz="2800" b="1" dirty="0">
              <a:latin typeface="Soberana Sans" pitchFamily="50" charset="0"/>
              <a:ea typeface="+mj-ea"/>
              <a:cs typeface="+mj-cs"/>
            </a:endParaRPr>
          </a:p>
        </p:txBody>
      </p:sp>
      <p:pic>
        <p:nvPicPr>
          <p:cNvPr id="9" name="8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916832"/>
            <a:ext cx="5976664" cy="33123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10" name="9 CuadroTexto"/>
          <p:cNvSpPr txBox="1"/>
          <p:nvPr/>
        </p:nvSpPr>
        <p:spPr>
          <a:xfrm>
            <a:off x="467544" y="5589240"/>
            <a:ext cx="813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dirty="0" smtClean="0">
                <a:latin typeface="Soberana Sans" pitchFamily="50" charset="0"/>
              </a:rPr>
              <a:t>Sigue los pasos…..</a:t>
            </a:r>
            <a:endParaRPr lang="es-MX" sz="2000" b="1" dirty="0" smtClean="0">
              <a:latin typeface="Soberana Sans" pitchFamily="50" charset="0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0409277">
            <a:off x="4344262" y="2539894"/>
            <a:ext cx="330002" cy="303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05723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847240" y="888472"/>
            <a:ext cx="7509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s-MX" sz="2000" dirty="0" smtClean="0">
                <a:latin typeface="Soberana Sans" pitchFamily="50" charset="0"/>
              </a:rPr>
              <a:t>1.  Ingresa tu certificado vigente, captura información.</a:t>
            </a:r>
          </a:p>
        </p:txBody>
      </p:sp>
      <p:sp>
        <p:nvSpPr>
          <p:cNvPr id="7" name="2 Título"/>
          <p:cNvSpPr>
            <a:spLocks noGrp="1"/>
          </p:cNvSpPr>
          <p:nvPr>
            <p:ph type="title"/>
          </p:nvPr>
        </p:nvSpPr>
        <p:spPr>
          <a:xfrm>
            <a:off x="145377" y="143526"/>
            <a:ext cx="8998623" cy="562074"/>
          </a:xfrm>
        </p:spPr>
        <p:txBody>
          <a:bodyPr>
            <a:normAutofit fontScale="90000"/>
          </a:bodyPr>
          <a:lstStyle/>
          <a:p>
            <a:r>
              <a:rPr lang="es-MX" dirty="0"/>
              <a:t>Renovación desde el portal de internet del SAT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827584" y="3356992"/>
            <a:ext cx="7509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 startAt="2"/>
            </a:pPr>
            <a:r>
              <a:rPr lang="es-MX" sz="2000" dirty="0" smtClean="0">
                <a:latin typeface="Soberana Sans" pitchFamily="50" charset="0"/>
              </a:rPr>
              <a:t>Establece una contraseña y si lo deseas, una o dos pistas   para recordarlas.</a:t>
            </a: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4158728"/>
            <a:ext cx="5855617" cy="15025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1506742"/>
            <a:ext cx="5832648" cy="177824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5617" y="5661248"/>
            <a:ext cx="7344816" cy="81414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xmlns="" val="64204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732154" y="692696"/>
            <a:ext cx="7624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 startAt="3"/>
            </a:pPr>
            <a:r>
              <a:rPr lang="es-MX" sz="2000" dirty="0" smtClean="0">
                <a:latin typeface="Soberana Sans" pitchFamily="50" charset="0"/>
              </a:rPr>
              <a:t>Ingresa tu archivo con extensión *.</a:t>
            </a:r>
            <a:r>
              <a:rPr lang="es-MX" sz="2000" dirty="0" err="1" smtClean="0">
                <a:latin typeface="Soberana Sans" pitchFamily="50" charset="0"/>
              </a:rPr>
              <a:t>key</a:t>
            </a:r>
            <a:r>
              <a:rPr lang="es-MX" sz="2000" dirty="0" smtClean="0">
                <a:latin typeface="Soberana Sans" pitchFamily="50" charset="0"/>
              </a:rPr>
              <a:t> y contraseña de tu firma electrónica vigente</a:t>
            </a:r>
            <a:r>
              <a:rPr lang="es-MX" sz="2000" dirty="0" smtClean="0">
                <a:solidFill>
                  <a:srgbClr val="002060"/>
                </a:solidFill>
                <a:latin typeface="Soberana Sans" pitchFamily="50" charset="0"/>
              </a:rPr>
              <a:t>.</a:t>
            </a:r>
            <a:endParaRPr lang="es-MX" sz="2000" dirty="0">
              <a:solidFill>
                <a:srgbClr val="002060"/>
              </a:solidFill>
              <a:latin typeface="Soberana Sans" pitchFamily="50" charset="0"/>
            </a:endParaRPr>
          </a:p>
        </p:txBody>
      </p:sp>
      <p:sp>
        <p:nvSpPr>
          <p:cNvPr id="9" name="2 Título"/>
          <p:cNvSpPr>
            <a:spLocks noGrp="1"/>
          </p:cNvSpPr>
          <p:nvPr>
            <p:ph type="title"/>
          </p:nvPr>
        </p:nvSpPr>
        <p:spPr>
          <a:xfrm>
            <a:off x="145377" y="143526"/>
            <a:ext cx="8819111" cy="562074"/>
          </a:xfrm>
        </p:spPr>
        <p:txBody>
          <a:bodyPr>
            <a:normAutofit fontScale="90000"/>
          </a:bodyPr>
          <a:lstStyle/>
          <a:p>
            <a:r>
              <a:rPr lang="es-MX" dirty="0"/>
              <a:t>Renovación desde el portal de internet del SAT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368541"/>
            <a:ext cx="6120680" cy="41217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10" name="9 CuadroTexto"/>
          <p:cNvSpPr txBox="1"/>
          <p:nvPr/>
        </p:nvSpPr>
        <p:spPr>
          <a:xfrm>
            <a:off x="755576" y="5589240"/>
            <a:ext cx="76244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 startAt="4"/>
            </a:pPr>
            <a:r>
              <a:rPr lang="es-MX" sz="2000" dirty="0" smtClean="0">
                <a:latin typeface="Soberana Sans" pitchFamily="50" charset="0"/>
              </a:rPr>
              <a:t>Da clic en firmar y guardar, establece ruta donde se</a:t>
            </a:r>
          </a:p>
          <a:p>
            <a:pPr marL="457200" indent="-457200" algn="just"/>
            <a:r>
              <a:rPr lang="es-MX" sz="2000" dirty="0" smtClean="0">
                <a:latin typeface="Soberana Sans" pitchFamily="50" charset="0"/>
              </a:rPr>
              <a:t>        guardaran los archivos.   </a:t>
            </a:r>
            <a:endParaRPr lang="es-MX" sz="2000" dirty="0">
              <a:latin typeface="Soberana Sans" pitchFamily="50" charset="0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0409277">
            <a:off x="7134030" y="3836037"/>
            <a:ext cx="330002" cy="303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357988">
            <a:off x="6139332" y="5075668"/>
            <a:ext cx="398095" cy="36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36257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439968" y="784091"/>
            <a:ext cx="8236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s-MX" sz="2000" dirty="0" smtClean="0">
                <a:latin typeface="Soberana Sans" pitchFamily="50" charset="0"/>
              </a:rPr>
              <a:t>5.  Si cuentas con acceso a internet, puedes terminar el proceso de renovación, elige la opción </a:t>
            </a:r>
            <a:r>
              <a:rPr lang="es-MX" sz="2000" b="1" dirty="0" smtClean="0">
                <a:latin typeface="Soberana Sans" pitchFamily="50" charset="0"/>
              </a:rPr>
              <a:t>sí</a:t>
            </a:r>
            <a:r>
              <a:rPr lang="es-MX" sz="2000" dirty="0" smtClean="0">
                <a:latin typeface="Soberana Sans" pitchFamily="50" charset="0"/>
              </a:rPr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4032448" cy="169694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5986935">
            <a:off x="1988646" y="3108641"/>
            <a:ext cx="329837" cy="295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539552" y="3277433"/>
            <a:ext cx="8236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s-MX" sz="2000" dirty="0" smtClean="0">
                <a:latin typeface="Soberana Sans" pitchFamily="50" charset="0"/>
              </a:rPr>
              <a:t>6.  Imprime tu comprobante y descarga tu nuevo certificado en </a:t>
            </a:r>
            <a:r>
              <a:rPr lang="es-MX" sz="2000" b="1" dirty="0" smtClean="0">
                <a:latin typeface="Soberana Sans" pitchFamily="50" charset="0"/>
              </a:rPr>
              <a:t>aquí</a:t>
            </a:r>
            <a:r>
              <a:rPr lang="es-MX" sz="2000" dirty="0" smtClean="0">
                <a:latin typeface="Soberana Sans" pitchFamily="50" charset="0"/>
              </a:rPr>
              <a:t>,  guarda tu certificado con tu nuevo archivo con extensión *. </a:t>
            </a:r>
            <a:r>
              <a:rPr lang="es-MX" sz="2000" dirty="0" err="1" smtClean="0">
                <a:latin typeface="Soberana Sans" pitchFamily="50" charset="0"/>
              </a:rPr>
              <a:t>key</a:t>
            </a:r>
            <a:r>
              <a:rPr lang="es-MX" sz="2000" dirty="0" smtClean="0">
                <a:latin typeface="Soberana Sans" pitchFamily="50" charset="0"/>
              </a:rPr>
              <a:t>.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4293096"/>
            <a:ext cx="3960440" cy="194421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78857">
            <a:off x="1755152" y="4810563"/>
            <a:ext cx="219585" cy="197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53882" y="4581129"/>
            <a:ext cx="3638597" cy="100811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541493">
            <a:off x="8288946" y="5505786"/>
            <a:ext cx="212644" cy="19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2 Título"/>
          <p:cNvSpPr>
            <a:spLocks noGrp="1"/>
          </p:cNvSpPr>
          <p:nvPr>
            <p:ph type="title"/>
          </p:nvPr>
        </p:nvSpPr>
        <p:spPr>
          <a:xfrm>
            <a:off x="145377" y="143526"/>
            <a:ext cx="8819111" cy="562074"/>
          </a:xfrm>
        </p:spPr>
        <p:txBody>
          <a:bodyPr>
            <a:normAutofit fontScale="90000"/>
          </a:bodyPr>
          <a:lstStyle/>
          <a:p>
            <a:r>
              <a:rPr lang="es-MX" dirty="0"/>
              <a:t>Renovación desde el portal de internet del SAT</a:t>
            </a:r>
          </a:p>
        </p:txBody>
      </p:sp>
    </p:spTree>
    <p:extLst>
      <p:ext uri="{BB962C8B-B14F-4D97-AF65-F5344CB8AC3E}">
        <p14:creationId xmlns:p14="http://schemas.microsoft.com/office/powerpoint/2010/main" xmlns="" val="388178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 Título"/>
          <p:cNvSpPr>
            <a:spLocks noGrp="1"/>
          </p:cNvSpPr>
          <p:nvPr>
            <p:ph type="title"/>
          </p:nvPr>
        </p:nvSpPr>
        <p:spPr>
          <a:xfrm>
            <a:off x="145377" y="143526"/>
            <a:ext cx="8702671" cy="562074"/>
          </a:xfrm>
        </p:spPr>
        <p:txBody>
          <a:bodyPr>
            <a:normAutofit fontScale="90000"/>
          </a:bodyPr>
          <a:lstStyle/>
          <a:p>
            <a:r>
              <a:rPr lang="es-MX" dirty="0"/>
              <a:t>Renovación desde el portal de internet del SAT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439968" y="920914"/>
            <a:ext cx="8236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dirty="0" smtClean="0">
                <a:latin typeface="Soberana Sans" pitchFamily="50" charset="0"/>
              </a:rPr>
              <a:t>Si elegiste la opción </a:t>
            </a:r>
            <a:r>
              <a:rPr lang="es-MX" sz="2000" b="1" dirty="0" smtClean="0">
                <a:latin typeface="Soberana Sans" pitchFamily="50" charset="0"/>
              </a:rPr>
              <a:t>No</a:t>
            </a:r>
            <a:r>
              <a:rPr lang="es-MX" sz="2000" dirty="0" smtClean="0">
                <a:latin typeface="Soberana Sans" pitchFamily="50" charset="0"/>
              </a:rPr>
              <a:t> contabas con internet en ese momento, haz lo siguiente.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611560" y="1772816"/>
            <a:ext cx="823648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dirty="0" smtClean="0">
                <a:latin typeface="Soberana Sans" pitchFamily="50" charset="0"/>
              </a:rPr>
              <a:t>1.  Ingresa al Portal del SAT, sat.gob.mx, y sigue la ruta:</a:t>
            </a:r>
          </a:p>
          <a:p>
            <a:pPr algn="just"/>
            <a:r>
              <a:rPr lang="es-MX" sz="2000" dirty="0" smtClean="0">
                <a:latin typeface="Soberana Sans" pitchFamily="50" charset="0"/>
              </a:rPr>
              <a:t>   </a:t>
            </a:r>
          </a:p>
          <a:p>
            <a:pPr marL="363538" indent="-101600" algn="just"/>
            <a:r>
              <a:rPr lang="es-MX" sz="2000" b="1" dirty="0" smtClean="0">
                <a:latin typeface="Soberana Sans" pitchFamily="50" charset="0"/>
              </a:rPr>
              <a:t> Información: Firma electrónica: Cómo renovar tu firma    electrónica: </a:t>
            </a:r>
            <a:r>
              <a:rPr lang="es-MX" sz="2000" b="1" dirty="0" err="1" smtClean="0">
                <a:latin typeface="Soberana Sans" pitchFamily="50" charset="0"/>
              </a:rPr>
              <a:t>Certisat</a:t>
            </a:r>
            <a:r>
              <a:rPr lang="es-MX" sz="2000" b="1" dirty="0" smtClean="0">
                <a:latin typeface="Soberana Sans" pitchFamily="50" charset="0"/>
              </a:rPr>
              <a:t> web.</a:t>
            </a:r>
          </a:p>
          <a:p>
            <a:pPr indent="261938" algn="just"/>
            <a:endParaRPr lang="es-MX" sz="2000" b="1" dirty="0" smtClean="0">
              <a:solidFill>
                <a:srgbClr val="002060"/>
              </a:solidFill>
              <a:latin typeface="Soberana Sans" pitchFamily="50" charset="0"/>
            </a:endParaRPr>
          </a:p>
          <a:p>
            <a:pPr marL="363538" indent="-363538" algn="just"/>
            <a:r>
              <a:rPr lang="es-MX" sz="2000" dirty="0" smtClean="0">
                <a:latin typeface="Soberana Sans" pitchFamily="50" charset="0"/>
              </a:rPr>
              <a:t>2. Autentícate con tu firma electrónica vigente o con tu contraseña.</a:t>
            </a:r>
          </a:p>
          <a:p>
            <a:pPr indent="261938" algn="just">
              <a:buFont typeface="Arial" pitchFamily="34" charset="0"/>
              <a:buChar char="•"/>
            </a:pPr>
            <a:endParaRPr lang="es-MX" sz="2000" dirty="0" smtClean="0">
              <a:latin typeface="Soberana Sans" pitchFamily="50" charset="0"/>
            </a:endParaRPr>
          </a:p>
          <a:p>
            <a:pPr marL="261938" indent="-261938" algn="just"/>
            <a:r>
              <a:rPr lang="es-MX" sz="2000" dirty="0" smtClean="0">
                <a:latin typeface="Soberana Sans" pitchFamily="50" charset="0"/>
              </a:rPr>
              <a:t>3. En el menú izquierdo de la aplicación da clic en Renovación del </a:t>
            </a:r>
          </a:p>
          <a:p>
            <a:pPr marL="261938" indent="-261938" algn="just"/>
            <a:r>
              <a:rPr lang="es-MX" sz="2000" dirty="0" smtClean="0">
                <a:latin typeface="Soberana Sans" pitchFamily="50" charset="0"/>
              </a:rPr>
              <a:t>     certificado.      </a:t>
            </a:r>
          </a:p>
          <a:p>
            <a:pPr marL="261938" indent="-261938" algn="just"/>
            <a:r>
              <a:rPr lang="es-MX" sz="2000" dirty="0" smtClean="0">
                <a:solidFill>
                  <a:srgbClr val="002060"/>
                </a:solidFill>
                <a:latin typeface="Soberana Sans" pitchFamily="50" charset="0"/>
              </a:rPr>
              <a:t>     </a:t>
            </a:r>
          </a:p>
          <a:p>
            <a:pPr marL="261938" algn="just"/>
            <a:endParaRPr lang="es-MX" sz="2000" dirty="0" smtClean="0">
              <a:solidFill>
                <a:srgbClr val="002060"/>
              </a:solidFill>
              <a:latin typeface="Soberana Sans" pitchFamily="50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4437113"/>
            <a:ext cx="1800200" cy="1872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9485976">
            <a:off x="4617990" y="5065063"/>
            <a:ext cx="413741" cy="371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49272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uadroTexto"/>
          <p:cNvSpPr txBox="1"/>
          <p:nvPr/>
        </p:nvSpPr>
        <p:spPr>
          <a:xfrm>
            <a:off x="312409" y="764704"/>
            <a:ext cx="8236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1938" algn="just"/>
            <a:endParaRPr lang="es-MX" sz="2000" dirty="0" smtClean="0">
              <a:latin typeface="Soberana Sans" pitchFamily="50" charset="0"/>
            </a:endParaRPr>
          </a:p>
          <a:p>
            <a:pPr marL="363538" indent="-363538" algn="just"/>
            <a:r>
              <a:rPr lang="es-MX" sz="2000" dirty="0" smtClean="0">
                <a:latin typeface="Soberana Sans" pitchFamily="50" charset="0"/>
              </a:rPr>
              <a:t>4. En Examinar ubica el archivo con extensión *.</a:t>
            </a:r>
            <a:r>
              <a:rPr lang="es-MX" sz="2000" dirty="0" err="1" smtClean="0">
                <a:latin typeface="Soberana Sans" pitchFamily="50" charset="0"/>
              </a:rPr>
              <a:t>ren</a:t>
            </a:r>
            <a:r>
              <a:rPr lang="es-MX" sz="2000" dirty="0" smtClean="0">
                <a:latin typeface="Soberana Sans" pitchFamily="50" charset="0"/>
              </a:rPr>
              <a:t> que acabas de generar. Da clic  en Renovar.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844824"/>
            <a:ext cx="6191489" cy="172687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12" name="11 Rectángulo"/>
          <p:cNvSpPr/>
          <p:nvPr/>
        </p:nvSpPr>
        <p:spPr>
          <a:xfrm>
            <a:off x="312409" y="3717032"/>
            <a:ext cx="7056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38" indent="-261938" algn="just"/>
            <a:r>
              <a:rPr lang="es-MX" dirty="0" smtClean="0">
                <a:latin typeface="Soberana Sans" pitchFamily="50" charset="0"/>
              </a:rPr>
              <a:t>5. Imprime el comprobante que emite la aplicación.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4149080"/>
            <a:ext cx="2836880" cy="213285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14" name="2 Título"/>
          <p:cNvSpPr>
            <a:spLocks noGrp="1"/>
          </p:cNvSpPr>
          <p:nvPr>
            <p:ph type="title"/>
          </p:nvPr>
        </p:nvSpPr>
        <p:spPr>
          <a:xfrm>
            <a:off x="145377" y="143526"/>
            <a:ext cx="8531079" cy="562074"/>
          </a:xfrm>
        </p:spPr>
        <p:txBody>
          <a:bodyPr>
            <a:normAutofit fontScale="90000"/>
          </a:bodyPr>
          <a:lstStyle/>
          <a:p>
            <a:r>
              <a:rPr lang="es-MX" dirty="0"/>
              <a:t>Renovación desde el portal de internet del SAT</a:t>
            </a:r>
          </a:p>
        </p:txBody>
      </p:sp>
    </p:spTree>
    <p:extLst>
      <p:ext uri="{BB962C8B-B14F-4D97-AF65-F5344CB8AC3E}">
        <p14:creationId xmlns:p14="http://schemas.microsoft.com/office/powerpoint/2010/main" xmlns="" val="158385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Título"/>
          <p:cNvSpPr>
            <a:spLocks noGrp="1"/>
          </p:cNvSpPr>
          <p:nvPr>
            <p:ph type="title"/>
          </p:nvPr>
        </p:nvSpPr>
        <p:spPr>
          <a:xfrm>
            <a:off x="145377" y="143526"/>
            <a:ext cx="8747103" cy="562074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Renovación </a:t>
            </a:r>
            <a:r>
              <a:rPr lang="es-MX" dirty="0"/>
              <a:t>desde el portal de internet del SAT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323528" y="637695"/>
            <a:ext cx="8236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1938" algn="just"/>
            <a:endParaRPr lang="es-MX" sz="2000" dirty="0" smtClean="0">
              <a:solidFill>
                <a:srgbClr val="002060"/>
              </a:solidFill>
              <a:latin typeface="Soberana Sans" pitchFamily="50" charset="0"/>
            </a:endParaRPr>
          </a:p>
          <a:p>
            <a:pPr marL="363538" indent="-363538" algn="just"/>
            <a:r>
              <a:rPr lang="es-MX" sz="2000" dirty="0" smtClean="0">
                <a:latin typeface="Soberana Sans" pitchFamily="50" charset="0"/>
              </a:rPr>
              <a:t>Recuperación de nuevo certificado de Firma Electrónica 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323528" y="1405225"/>
            <a:ext cx="83084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/>
            <a:r>
              <a:rPr lang="es-MX" sz="2000" dirty="0" smtClean="0">
                <a:latin typeface="Soberana Sans" pitchFamily="50" charset="0"/>
              </a:rPr>
              <a:t>1. En el menú izquierdo da clic en Recuperación de certificados.    Ingresa tu RFC.</a:t>
            </a:r>
          </a:p>
          <a:p>
            <a:pPr marL="457200" indent="-457200" algn="just"/>
            <a:endParaRPr lang="es-MX" sz="2000" dirty="0" smtClean="0">
              <a:solidFill>
                <a:srgbClr val="002060"/>
              </a:solidFill>
              <a:latin typeface="Soberana Sans" pitchFamily="50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61068" y="3717032"/>
            <a:ext cx="8136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/>
            <a:r>
              <a:rPr lang="es-MX" dirty="0" smtClean="0">
                <a:latin typeface="Soberana Sans" pitchFamily="50" charset="0"/>
              </a:rPr>
              <a:t>2.  Da clic sobre el número de serie del certificado activo y guarda tu nuevo archivo junto con los archivos de extensión *.</a:t>
            </a:r>
            <a:r>
              <a:rPr lang="es-MX" dirty="0" err="1" smtClean="0">
                <a:latin typeface="Soberana Sans" pitchFamily="50" charset="0"/>
              </a:rPr>
              <a:t>ren</a:t>
            </a:r>
            <a:r>
              <a:rPr lang="es-MX" dirty="0" smtClean="0">
                <a:latin typeface="Soberana Sans" pitchFamily="50" charset="0"/>
              </a:rPr>
              <a:t> y *.</a:t>
            </a:r>
            <a:r>
              <a:rPr lang="es-MX" dirty="0" err="1" smtClean="0">
                <a:latin typeface="Soberana Sans" pitchFamily="50" charset="0"/>
              </a:rPr>
              <a:t>key</a:t>
            </a:r>
            <a:r>
              <a:rPr lang="es-MX" dirty="0" smtClean="0">
                <a:latin typeface="Soberana Sans" pitchFamily="50" charset="0"/>
              </a:rPr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88082" y="1914017"/>
            <a:ext cx="5309890" cy="168721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4509120"/>
            <a:ext cx="5472608" cy="17014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xmlns="" val="193922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Título"/>
          <p:cNvSpPr>
            <a:spLocks noGrp="1"/>
          </p:cNvSpPr>
          <p:nvPr>
            <p:ph type="title"/>
          </p:nvPr>
        </p:nvSpPr>
        <p:spPr>
          <a:xfrm>
            <a:off x="179512" y="188640"/>
            <a:ext cx="8640960" cy="562074"/>
          </a:xfrm>
        </p:spPr>
        <p:txBody>
          <a:bodyPr>
            <a:normAutofit fontScale="90000"/>
          </a:bodyPr>
          <a:lstStyle/>
          <a:p>
            <a:r>
              <a:rPr lang="es-MX" dirty="0"/>
              <a:t>Revocación desde el portal de internet del SAT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321645" y="836712"/>
            <a:ext cx="82364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dirty="0" smtClean="0">
                <a:latin typeface="Soberana Sans" pitchFamily="50" charset="0"/>
              </a:rPr>
              <a:t>1.  Ingresa al Portal del SAT, sat.gob.mx, y sigue la ruta:</a:t>
            </a:r>
          </a:p>
          <a:p>
            <a:pPr algn="just"/>
            <a:r>
              <a:rPr lang="es-MX" sz="2000" dirty="0" smtClean="0">
                <a:latin typeface="Soberana Sans" pitchFamily="50" charset="0"/>
              </a:rPr>
              <a:t>   </a:t>
            </a:r>
          </a:p>
          <a:p>
            <a:pPr marL="363538" indent="-101600" algn="just"/>
            <a:r>
              <a:rPr lang="es-MX" sz="2000" b="1" dirty="0" smtClean="0">
                <a:latin typeface="Soberana Sans" pitchFamily="50" charset="0"/>
              </a:rPr>
              <a:t> Información: Firma electrónica: Cómo revocar tu firma    electrónica: servicio de revocación.</a:t>
            </a:r>
          </a:p>
          <a:p>
            <a:pPr indent="261938" algn="just"/>
            <a:endParaRPr lang="es-MX" sz="2000" b="1" dirty="0" smtClean="0">
              <a:latin typeface="Soberana Sans" pitchFamily="50" charset="0"/>
            </a:endParaRPr>
          </a:p>
          <a:p>
            <a:pPr marL="363538" indent="-363538" algn="just"/>
            <a:r>
              <a:rPr lang="es-MX" sz="2000" dirty="0" smtClean="0">
                <a:latin typeface="Soberana Sans" pitchFamily="50" charset="0"/>
              </a:rPr>
              <a:t>2. Autentícate con tu firma electrónica vigente o con tu contraseña.</a:t>
            </a:r>
          </a:p>
          <a:p>
            <a:pPr indent="261938" algn="just"/>
            <a:endParaRPr lang="es-MX" sz="2000" dirty="0" smtClean="0">
              <a:latin typeface="Soberana Sans" pitchFamily="50" charset="0"/>
            </a:endParaRPr>
          </a:p>
          <a:p>
            <a:pPr marL="261938" indent="-261938" algn="just"/>
            <a:r>
              <a:rPr lang="es-MX" sz="2000" dirty="0" smtClean="0">
                <a:latin typeface="Soberana Sans" pitchFamily="50" charset="0"/>
              </a:rPr>
              <a:t>3. En el menú izquierdo de la aplicación da clic en Revocación del </a:t>
            </a:r>
          </a:p>
          <a:p>
            <a:pPr marL="261938" indent="-261938" algn="just"/>
            <a:r>
              <a:rPr lang="es-MX" sz="2000" dirty="0" smtClean="0">
                <a:latin typeface="Soberana Sans" pitchFamily="50" charset="0"/>
              </a:rPr>
              <a:t>     certificado.     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3342" y="3501008"/>
            <a:ext cx="1769378" cy="24780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9485976">
            <a:off x="5001233" y="3784373"/>
            <a:ext cx="413741" cy="371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33149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Título"/>
          <p:cNvSpPr>
            <a:spLocks noGrp="1"/>
          </p:cNvSpPr>
          <p:nvPr>
            <p:ph type="title"/>
          </p:nvPr>
        </p:nvSpPr>
        <p:spPr>
          <a:xfrm>
            <a:off x="145377" y="143526"/>
            <a:ext cx="8747103" cy="562074"/>
          </a:xfrm>
        </p:spPr>
        <p:txBody>
          <a:bodyPr>
            <a:normAutofit fontScale="90000"/>
          </a:bodyPr>
          <a:lstStyle/>
          <a:p>
            <a:r>
              <a:rPr lang="es-MX" dirty="0"/>
              <a:t>Revocación desde el portal de internet del SAT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007823"/>
            <a:ext cx="5544616" cy="178932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6" name="5 CuadroTexto"/>
          <p:cNvSpPr txBox="1"/>
          <p:nvPr/>
        </p:nvSpPr>
        <p:spPr>
          <a:xfrm>
            <a:off x="323528" y="1196752"/>
            <a:ext cx="8236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1938" algn="just"/>
            <a:endParaRPr lang="es-MX" sz="2000" dirty="0" smtClean="0">
              <a:solidFill>
                <a:srgbClr val="002060"/>
              </a:solidFill>
              <a:latin typeface="Soberana Sans" pitchFamily="50" charset="0"/>
            </a:endParaRPr>
          </a:p>
          <a:p>
            <a:pPr marL="363538" indent="-363538" algn="just"/>
            <a:r>
              <a:rPr lang="es-MX" sz="2000" dirty="0" smtClean="0">
                <a:latin typeface="Soberana Sans" pitchFamily="50" charset="0"/>
              </a:rPr>
              <a:t>4. En examinar ubica el certificado vigente (archivo extensión *.</a:t>
            </a:r>
            <a:r>
              <a:rPr lang="es-MX" sz="2000" dirty="0" err="1" smtClean="0">
                <a:latin typeface="Soberana Sans" pitchFamily="50" charset="0"/>
              </a:rPr>
              <a:t>cer</a:t>
            </a:r>
            <a:r>
              <a:rPr lang="es-MX" sz="2000" dirty="0" smtClean="0">
                <a:latin typeface="Soberana Sans" pitchFamily="50" charset="0"/>
              </a:rPr>
              <a:t>). Da clic  en Continuar.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362716">
            <a:off x="5038073" y="4045113"/>
            <a:ext cx="253062" cy="2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2009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247830"/>
            <a:ext cx="7652221" cy="24838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7" name="6 CuadroTexto"/>
          <p:cNvSpPr txBox="1"/>
          <p:nvPr/>
        </p:nvSpPr>
        <p:spPr>
          <a:xfrm>
            <a:off x="395536" y="5025370"/>
            <a:ext cx="8236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1938" algn="just"/>
            <a:endParaRPr lang="es-MX" sz="2000" dirty="0" smtClean="0">
              <a:solidFill>
                <a:srgbClr val="002060"/>
              </a:solidFill>
              <a:latin typeface="Soberana Sans" pitchFamily="50" charset="0"/>
            </a:endParaRPr>
          </a:p>
          <a:p>
            <a:pPr marL="363538" indent="-363538" algn="just"/>
            <a:r>
              <a:rPr lang="es-MX" sz="2000" dirty="0" smtClean="0">
                <a:latin typeface="Soberana Sans" pitchFamily="50" charset="0"/>
              </a:rPr>
              <a:t>6. Imprime tu comprobante de revocación.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95536" y="908720"/>
            <a:ext cx="8236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1938" algn="just"/>
            <a:endParaRPr lang="es-MX" sz="2000" dirty="0" smtClean="0">
              <a:solidFill>
                <a:srgbClr val="002060"/>
              </a:solidFill>
              <a:latin typeface="Soberana Sans" pitchFamily="50" charset="0"/>
            </a:endParaRPr>
          </a:p>
          <a:p>
            <a:pPr marL="363538" indent="-363538" algn="just"/>
            <a:r>
              <a:rPr lang="es-MX" sz="2000" dirty="0" smtClean="0">
                <a:latin typeface="Soberana Sans" pitchFamily="50" charset="0"/>
              </a:rPr>
              <a:t>5. Ingresa tu clave privada vigente (archivo extensión *.</a:t>
            </a:r>
            <a:r>
              <a:rPr lang="es-MX" sz="2000" dirty="0" err="1" smtClean="0">
                <a:latin typeface="Soberana Sans" pitchFamily="50" charset="0"/>
              </a:rPr>
              <a:t>key</a:t>
            </a:r>
            <a:r>
              <a:rPr lang="es-MX" sz="2000" dirty="0" smtClean="0">
                <a:latin typeface="Soberana Sans" pitchFamily="50" charset="0"/>
              </a:rPr>
              <a:t>) y  contraseña, da clic en revocar.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771592">
            <a:off x="5976278" y="4694523"/>
            <a:ext cx="413741" cy="371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9485976">
            <a:off x="5336044" y="3758809"/>
            <a:ext cx="270789" cy="242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362716">
            <a:off x="4053319" y="4189130"/>
            <a:ext cx="253062" cy="2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2 Título"/>
          <p:cNvSpPr>
            <a:spLocks noGrp="1"/>
          </p:cNvSpPr>
          <p:nvPr>
            <p:ph type="title"/>
          </p:nvPr>
        </p:nvSpPr>
        <p:spPr>
          <a:xfrm>
            <a:off x="145377" y="143526"/>
            <a:ext cx="8603087" cy="562074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Revocación desde el portal de internet del SAT</a:t>
            </a:r>
            <a:endParaRPr lang="es-MX" dirty="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1362716">
            <a:off x="4101970" y="4189129"/>
            <a:ext cx="253062" cy="2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945982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573</Words>
  <Application>Microsoft Office PowerPoint</Application>
  <PresentationFormat>Presentación en pantalla (4:3)</PresentationFormat>
  <Paragraphs>64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Renovación y Revocación de la Firma Electrónica desde el portal de internet del SAT</vt:lpstr>
      <vt:lpstr>Renovación desde el portal de internet del SAT</vt:lpstr>
      <vt:lpstr>Diapositiva 3</vt:lpstr>
      <vt:lpstr>Diapositiva 4</vt:lpstr>
      <vt:lpstr>Renovación desde el portal de internet del SAT</vt:lpstr>
      <vt:lpstr>Renovación desde el portal de internet del SAT</vt:lpstr>
      <vt:lpstr>Renovación desde el portal de internet del SAT</vt:lpstr>
      <vt:lpstr>Renovación desde el portal de internet del SAT</vt:lpstr>
      <vt:lpstr>Renovación desde el portal de internet del SAT</vt:lpstr>
      <vt:lpstr>Renovación desde el portal de internet del SAT</vt:lpstr>
      <vt:lpstr>Revocación desde el portal de internet del SAT</vt:lpstr>
      <vt:lpstr>Revocación desde el portal de internet del SAT</vt:lpstr>
      <vt:lpstr>Revocación desde el portal de internet del SAT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Isabel Vázquez Vázquez</dc:creator>
  <cp:lastModifiedBy>GOCE61AG</cp:lastModifiedBy>
  <cp:revision>3</cp:revision>
  <dcterms:created xsi:type="dcterms:W3CDTF">2015-02-16T19:32:04Z</dcterms:created>
  <dcterms:modified xsi:type="dcterms:W3CDTF">2015-07-06T18:10:07Z</dcterms:modified>
</cp:coreProperties>
</file>